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 Why this design — CP4D artifact-level backup</a:t>
            </a:r>
          </a:p>
          <a:p/>
          <a:p>
            <a:r>
              <a:t>This document is the **"why"** behind the blueprint: what CP4D artifacts actually are, why the API</a:t>
            </a:r>
          </a:p>
          <a:p>
            <a:r>
              <a:t>is the only path to them, how the design maps onto this project's blueprint patterns, and what was</a:t>
            </a:r>
          </a:p>
          <a:p>
            <a:r>
              <a:t>measured about `cpdctl` export/import. The **"how"** — prerequisites, deploy, restore, teardown — is</a:t>
            </a:r>
          </a:p>
          <a:p>
            <a:r>
              <a:t>in [README.md](README.md).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1. Where this fits</a:t>
            </a:r>
          </a:p>
          <a:p/>
          <a:p>
            <a:r>
              <a:t>CP4D ships its own platform-level backup/restore (`cpdbr` / `cpd-cli oadp`). That path is</a:t>
            </a:r>
          </a:p>
          <a:p>
            <a:r>
              <a:t>**whole-tenant** and coupled to a resource-backup engine plus a separate object store: it is built</a:t>
            </a:r>
          </a:p>
          <a:p>
            <a:r>
              <a:t>for infrastructure DR of the entire CP4D installation.</a:t>
            </a:r>
          </a:p>
          <a:p/>
          <a:p>
            <a:r>
              <a:t>This blueprint targets a different lane: **per-project, artifact-level** protection with</a:t>
            </a:r>
          </a:p>
          <a:p>
            <a:r>
              <a:t>**granular, self-service restore** — recover one analytics project, or migrate a project to another</a:t>
            </a:r>
          </a:p>
          <a:p>
            <a:r>
              <a:t>cluster, without touching the platform. It is a **complement** to platform DR, not a replacement:</a:t>
            </a:r>
          </a:p>
          <a:p>
            <a:r>
              <a:t>it needs the CP4D platform to be up, and it does not protect the control plane. Position it that</a:t>
            </a:r>
          </a:p>
          <a:p>
            <a:r>
              <a:t>way.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2. What a CP4D artifact is — and why the API is the only path</a:t>
            </a:r>
          </a:p>
          <a:p/>
          <a:p>
            <a:r>
              <a:t>Three architectural facts drive the entire design.</a:t>
            </a:r>
          </a:p>
          <a:p/>
          <a:p>
            <a:r>
              <a:t>**A notebook is not a file, and not a CRD.** Analytics projects and their assets (notebooks,</a:t>
            </a:r>
          </a:p>
          <a:p>
            <a:r>
              <a:t>connections, jobs, models) are **application-level entities** living in CP4D's metadata database</a:t>
            </a:r>
          </a:p>
          <a:p>
            <a:r>
              <a:t>plus its object storage, reachable only over REST / `cpdctl`. They are **not Kubernetes custom</a:t>
            </a:r>
          </a:p>
          <a:p>
            <a:r>
              <a:t>resources** — `oc get` will never show them. (The only "projects" visible in the cluster are</a:t>
            </a:r>
          </a:p>
          <a:p>
            <a:r>
              <a:t>OpenShift namespaces, which are unrelated.)</a:t>
            </a:r>
          </a:p>
          <a:p/>
          <a:p>
            <a:r>
              <a:t>→ A Kubernetes resource backup *cannot see a notebook at all*. The API path is not merely the</a:t>
            </a:r>
          </a:p>
          <a:p>
            <a:r>
              <a:t>cleaner option here; it is the only way to get artifact granularity.</a:t>
            </a:r>
          </a:p>
          <a:p/>
          <a:p>
            <a:r>
              <a:t>**The unit is the analytics project, not the individual notebook.** A lone notebook stripped of its</a:t>
            </a:r>
          </a:p>
          <a:p>
            <a:r>
              <a:t>project context — its runtime binding, its data assets, its relationship graph — is not usefully</a:t>
            </a:r>
          </a:p>
          <a:p>
            <a:r>
              <a:t>restorable. So the project is the atom of backup and restore, which is why the design gives each</a:t>
            </a:r>
          </a:p>
          <a:p>
            <a:r>
              <a:t>project **its own PVC**: PVC = unit of granularity = unit of multi-tenant restore.</a:t>
            </a:r>
          </a:p>
          <a:p/>
          <a:p>
            <a:r>
              <a:t>**The tool is `cpdctl`, not `cpd-cli`.** `cpd-cli` is the platform/install CLI (the `cpdbr` world).</a:t>
            </a:r>
          </a:p>
          <a:p>
            <a:r>
              <a:t>`cpdctl` is the runtime CLI for projects and assets — the artifact layer. Its project</a:t>
            </a:r>
          </a:p>
          <a:p>
            <a:r>
              <a:t>export/import is an **async export-job** model (create → poll → download a zip bundle; import</a:t>
            </a:r>
          </a:p>
          <a:p>
            <a:r>
              <a:t>mirrors it), which `--output-file` collapses into a single synchronous call.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3. How it maps onto this project's blueprint patterns</a:t>
            </a:r>
          </a:p>
          <a:p/>
          <a:p>
            <a:r>
              <a:t>The governing rule in [AGENTS.md](../AGENTS.md) is **"Kasten is the data mover — blueprints only</a:t>
            </a:r>
          </a:p>
          <a:p>
            <a:r>
              <a:t>quiesce or dump-to-PVC, never move data themselves."** A `cpdctl` export produces a bundle on a</a:t>
            </a:r>
          </a:p>
          <a:p>
            <a:r>
              <a:t>volume, so the on-model design is **Pattern 4 — dump to a permanent keeper PVC**, combined with the</a:t>
            </a:r>
          </a:p>
          <a:p>
            <a:r>
              <a:t>**action-hook** mechanism:</a:t>
            </a:r>
          </a:p>
          <a:p/>
          <a:p>
            <a:r>
              <a:t>- A keeper image carrying `cpdctl` + a platform API key writes the export into a permanent PVC.</a:t>
            </a:r>
          </a:p>
          <a:p>
            <a:r>
              <a:t>- **Kasten snapshots those PVCs.** The blueprint never transfers data, and never uses</a:t>
            </a:r>
          </a:p>
          <a:p>
            <a:r>
              <a:t>  `KanisterBackupData` / `KanisterRestoreData`.</a:t>
            </a:r>
          </a:p>
          <a:p>
            <a:r>
              <a:t>- There is no `Project` or `Notebook` CR to bind a workload blueprint to, so the orchestration runs</a:t>
            </a:r>
          </a:p>
          <a:p>
            <a:r>
              <a:t>  as a **BackupAction `preHook`** (an action blueprint) rather than via BlueprintBinding.</a:t>
            </a:r>
          </a:p>
          <a:p/>
          <a:p>
            <a:r>
              <a:t>The action hook also solves a discovery-ordering problem. Kasten's PVC discovery runs **before** the</a:t>
            </a:r>
          </a:p>
          <a:p>
            <a:r>
              <a:t>preHook of a BackupAction but **after** a resource-bound `backupPrehook`. Since the set of projects</a:t>
            </a:r>
          </a:p>
          <a:p>
            <a:r>
              <a:t>— and therefore the set of PVCs — is only known at run time, the orchestration must run early</a:t>
            </a:r>
          </a:p>
          <a:p>
            <a:r>
              <a:t>enough that any newly created per-project PVC still lands in the restore point. Only the action-hook</a:t>
            </a:r>
          </a:p>
          <a:p>
            <a:r>
              <a:t>path gives that. The trade-off is the documented one: namespace-only context, one blueprint per</a:t>
            </a:r>
          </a:p>
          <a:p>
            <a:r>
              <a:t>namespace.</a:t>
            </a:r>
          </a:p>
          <a:p/>
          <a:p>
            <a:r>
              <a:t>### Decisions that follow</a:t>
            </a:r>
          </a:p>
          <a:p/>
          <a:p>
            <a:r>
              <a:t>- **Permanent, GUID-keyed PVCs** (`cp4d-&lt;sanitized-name&gt;-&lt;short-guid&gt;`) — created if missing,</a:t>
            </a:r>
          </a:p>
          <a:p>
            <a:r>
              <a:t>  refreshed every run, pruned when the project is deleted. Permanence is what lets CSI block-level</a:t>
            </a:r>
          </a:p>
          <a:p>
            <a:r>
              <a:t>  incremental dedup work across successive snapshots.</a:t>
            </a:r>
          </a:p>
          <a:p>
            <a:r>
              <a:t>- **Store the export UNZIPPED.** A zip is opaque to block-level dedup: a one-cell notebook edit</a:t>
            </a:r>
          </a:p>
          <a:p>
            <a:r>
              <a:t>  rewrites the whole archive. Unzipped, a one-cell edit rewrites one file, and the ~70 % constant</a:t>
            </a:r>
          </a:p>
          <a:p>
            <a:r>
              <a:t>  schema mass (see §5) dedups across snapshots.</a:t>
            </a:r>
          </a:p>
          <a:p>
            <a:r>
              <a:t>- **Restore is decoupled from Kasten restore hooks** — a standalone [restore.sh](restore.sh) runs</a:t>
            </a:r>
          </a:p>
          <a:p>
            <a:r>
              <a:t>  the `cpdctl import`. More robust, and it fits the multi-tenant / mass-migration story where</a:t>
            </a:r>
          </a:p>
          <a:p>
            <a:r>
              <a:t>  different users restore different projects into different namespaces.</a:t>
            </a:r>
          </a:p>
          <a:p>
            <a:r>
              <a:t>- **Credentials never fan out.** The CP4D API key lives in a Secret in the `cpd` namespace —</a:t>
            </a:r>
          </a:p>
          <a:p>
            <a:r>
              <a:t>  deliberately *outside* the backed-up namespace — is read cross-namespace by the keeper SA, and is</a:t>
            </a:r>
          </a:p>
          <a:p>
            <a:r>
              <a:t>  rendered into an ephemeral tmpfs `cpdctl` config. It is therefore never captured in any restore</a:t>
            </a:r>
          </a:p>
          <a:p>
            <a:r>
              <a:t>  point.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4. V1 scope, and the boundaries drawn on purpose</a:t>
            </a:r>
          </a:p>
          <a:p/>
          <a:p>
            <a:r>
              <a:t>**In scope:** back up analytics projects — notebooks, jobs, file data assets, connection</a:t>
            </a:r>
          </a:p>
          <a:p>
            <a:r>
              <a:t>definitions, the dependency graph, and the environment/runtime *definitions* the notebook needs to</a:t>
            </a:r>
          </a:p>
          <a:p>
            <a:r>
              <a:t>run after restore.</a:t>
            </a:r>
          </a:p>
          <a:p/>
          <a:p>
            <a:r>
              <a:t>**Deliberately deferred:**</a:t>
            </a:r>
          </a:p>
          <a:p/>
          <a:p>
            <a:r>
              <a:t>| Out of V1 | Why it matters |</a:t>
            </a:r>
          </a:p>
          <a:p>
            <a:r>
              <a:t>|---|---|</a:t>
            </a:r>
          </a:p>
          <a:p>
            <a:r>
              <a:t>| **Custom runtime images** | Export captures the environment *definition*, not the image in the internal registry → a notebook on a custom runtime may not be runnable after restore. Untested (§5). |</a:t>
            </a:r>
          </a:p>
          <a:p>
            <a:r>
              <a:t>| **External data behind connections** | Captured as a reference only — see §6. Separately protected. |</a:t>
            </a:r>
          </a:p>
          <a:p>
            <a:r>
              <a:t>| **Version skew** | Logical export/import is version-sensitive. V1 targets same-version DR (validated 5.2 → 5.2 and 5.4 → 5.4). One cross-version pair is measured — a 5.2.2 bundle imported into 5.4.0 — but no other pair; see §7. |</a:t>
            </a:r>
          </a:p>
          <a:p>
            <a:r>
              <a:t>| **Git-based projects** | Validated only against the default COS-backed (`assetfiles`) flavour. For a git-based project the notebook *content* lives in a git repo, so the export captures the project definition, asset metadata, jobs, connections and the project→repo association, but not the notebook bytes. Check which flavour is in play — but see the caveat below: git-based does **not** mean "no backup needed". |</a:t>
            </a:r>
          </a:p>
          <a:p/>
          <a:p>
            <a:r>
              <a:t>Connection **credentials** were initially assumed to be redacted on export. They are not — see §6.</a:t>
            </a:r>
          </a:p>
          <a:p>
            <a:r>
              <a:t>That finding changed the design, so it is not a deferral but a requirement.</a:t>
            </a:r>
          </a:p>
          <a:p/>
          <a:p>
            <a:r>
              <a:t>### Git-based does not remove the need to back up the metadata</a:t>
            </a:r>
          </a:p>
          <a:p/>
          <a:p>
            <a:r>
              <a:t>It is tempting to conclude that a git-based project is already protected because "the notebooks are</a:t>
            </a:r>
          </a:p>
          <a:p>
            <a:r>
              <a:t>in git". Do not stop there — **still back up the CP4D metadata**, for two independent reasons.</a:t>
            </a:r>
          </a:p>
          <a:p/>
          <a:p>
            <a:r>
              <a:t>**Git is tamper-evident, not tamper-proof.** Commit hashes and signatures let you *detect* that</a:t>
            </a:r>
          </a:p>
          <a:p>
            <a:r>
              <a:t>history was altered; they do not prevent it. A force-push, a rewritten branch, a deleted repo or a</a:t>
            </a:r>
          </a:p>
          <a:p>
            <a:r>
              <a:t>compromised maintainer account all change the remote, and a hash mismatch tells you afterwards that</a:t>
            </a:r>
          </a:p>
          <a:p>
            <a:r>
              <a:t>something is wrong — it does not give you the previous state back. Detection is not recovery. An</a:t>
            </a:r>
          </a:p>
          <a:p>
            <a:r>
              <a:t>independent, immutable copy is what turns "we can prove this was tampered with" into "we can put it</a:t>
            </a:r>
          </a:p>
          <a:p>
            <a:r>
              <a:t>back".</a:t>
            </a:r>
          </a:p>
          <a:p/>
          <a:p>
            <a:r>
              <a:t>**Git is usually inside the blast radius.** When a real disaster or a ransomware event hits, the</a:t>
            </a:r>
          </a:p>
          <a:p>
            <a:r>
              <a:t>whole CI/CD chain tends to go with it — the git server, its runners, the artifact registry, the</a:t>
            </a:r>
          </a:p>
          <a:p>
            <a:r>
              <a:t>credentials that reach them. A recovery plan whose sole copy of the notebooks lives in that same</a:t>
            </a:r>
          </a:p>
          <a:p>
            <a:r>
              <a:t>chain has a single point of failure precisely in the scenario it exists for. This is the same</a:t>
            </a:r>
          </a:p>
          <a:p>
            <a:r>
              <a:t>reasoning as the external-datasource boundary in §6, applied to git: the git remote is *an external</a:t>
            </a:r>
          </a:p>
          <a:p>
            <a:r>
              <a:t>datasource*, and it needs its own explicit, independent protection decision.</a:t>
            </a:r>
          </a:p>
          <a:p/>
          <a:p>
            <a:r>
              <a:t>**Practical consequence.** For a git-based project, treat it as **two things to protect, not one**:</a:t>
            </a:r>
          </a:p>
          <a:p/>
          <a:p>
            <a:r>
              <a:t>- **This blueprint protects the CP4D-side metadata** — the project definition, the repo association,</a:t>
            </a:r>
          </a:p>
          <a:p>
            <a:r>
              <a:t>  jobs, connections, environment definitions, the dependency graph. Without it, a restored git repo</a:t>
            </a:r>
          </a:p>
          <a:p>
            <a:r>
              <a:t>  is a pile of `.ipynb` files with no project to run them in, no runtime binding and no connections.</a:t>
            </a:r>
          </a:p>
          <a:p>
            <a:r>
              <a:t>- **The git remote needs a separate, independent process** — its own backup, on its own schedule,</a:t>
            </a:r>
          </a:p>
          <a:p>
            <a:r>
              <a:t>  ideally into storage the CI/CD chain cannot reach or overwrite.</a:t>
            </a:r>
          </a:p>
          <a:p/>
          <a:p>
            <a:r>
              <a:t>So git-based projects are not *simpler* to protect. The split is different, and the two halves must</a:t>
            </a:r>
          </a:p>
          <a:p>
            <a:r>
              <a:t>be recoverable independently.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5. What export/import actually produces (validated 2026-07-09)</a:t>
            </a:r>
          </a:p>
          <a:p/>
          <a:p>
            <a:r>
              <a:t>Fixture: one project containing a notebook (2 code cells + outputs) and a job that runs it.</a:t>
            </a:r>
          </a:p>
          <a:p>
            <a:r>
              <a:t>CP4D 5.2.x, `cpdctl` 1.8.244. Bundle: 147 KB, 76 files. Three layers:</a:t>
            </a:r>
          </a:p>
          <a:p/>
          <a:p>
            <a:r>
              <a:t>- **Artifacts — the payload, and it is tiny.** `assets/notebook/*.ipynb` is the **real notebook,</a:t>
            </a:r>
          </a:p>
          <a:p>
            <a:r>
              <a:t>  cells and outputs included**. The `job` asset was captured too: `--assets-all-assets` really does</a:t>
            </a:r>
          </a:p>
          <a:p>
            <a:r>
              <a:t>  mean *all* project assets, not just notebooks.</a:t>
            </a:r>
          </a:p>
          <a:p>
            <a:r>
              <a:t>- **Graph + project definition — small.** `assetrelationships.json` records the job→notebook "uses"</a:t>
            </a:r>
          </a:p>
          <a:p>
            <a:r>
              <a:t>  relationship. `project.json` shows `storage.type = assetfiles`, i.e. a COS-backed (not git-based)</a:t>
            </a:r>
          </a:p>
          <a:p>
            <a:r>
              <a:t>  project.</a:t>
            </a:r>
          </a:p>
          <a:p>
            <a:r>
              <a:t>- **`assettypes/` — 70 files, ~70 % of the bundle.** Asset-type **schemas** (the metamodel), not</a:t>
            </a:r>
          </a:p>
          <a:p>
            <a:r>
              <a:t>  instances. This is why a 995-byte notebook yields a 147 KB bundle: schema overhead is roughly</a:t>
            </a:r>
          </a:p>
          <a:p>
            <a:r>
              <a:t>  **constant regardless of content**, which is precisely why storing the bundle unzipped pays off.</a:t>
            </a:r>
          </a:p>
          <a:p/>
          <a:p>
            <a:r>
              <a:t>**Round-trip fidelity — verified:**</a:t>
            </a:r>
          </a:p>
          <a:p/>
          <a:p>
            <a:r>
              <a:t>| Check | Result |</a:t>
            </a:r>
          </a:p>
          <a:p>
            <a:r>
              <a:t>|---|---|</a:t>
            </a:r>
          </a:p>
          <a:p>
            <a:r>
              <a:t>| Notebook content (cells + outputs) | **byte-for-byte identical** (`diff` → IDENTICAL) |</a:t>
            </a:r>
          </a:p>
          <a:p>
            <a:r>
              <a:t>| Assets landed in target project | notebook + job, both `available`, fresh IDs |</a:t>
            </a:r>
          </a:p>
          <a:p>
            <a:r>
              <a:t>| Relationship graph remapped | job `asset_ref` → the **new** notebook ID, not the source ID |</a:t>
            </a:r>
          </a:p>
          <a:p>
            <a:r>
              <a:t>| Stock runtime remapped | job `env_id` → `rt241py-&lt;new-project-id&gt;` |</a:t>
            </a:r>
          </a:p>
          <a:p/>
          <a:p>
            <a:r>
              <a:t>**One nuance worth remembering:** on import the **notebook** asset loses its explicit</a:t>
            </a:r>
          </a:p>
          <a:p>
            <a:r>
              <a:t>`runtime.environment` field (the source had it, the imported copy does not), but the **job** that</a:t>
            </a:r>
          </a:p>
          <a:p>
            <a:r>
              <a:t>executes the notebook keeps its runtime binding, correctly remapped to the target project's stock</a:t>
            </a:r>
          </a:p>
          <a:p>
            <a:r>
              <a:t>runtime. Execution reproducibility therefore rides on the **job**, not on the notebook's own</a:t>
            </a:r>
          </a:p>
          <a:p>
            <a:r>
              <a:t>environment pointer. Fine for **stock** runtimes; the **custom** runtime case is still untested.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6. The data and credential boundary (validated 2026-07-10)</a:t>
            </a:r>
          </a:p>
          <a:p/>
          <a:p>
            <a:r>
              <a:t>Re-exporting a data-rich project (`--assets-all-assets`) and inspecting the bundle:</a:t>
            </a:r>
          </a:p>
          <a:p/>
          <a:p>
            <a:r>
              <a:t>| Asset | In the bundle? | Evidence |</a:t>
            </a:r>
          </a:p>
          <a:p>
            <a:r>
              <a:t>|---|---|---|</a:t>
            </a:r>
          </a:p>
          <a:p>
            <a:r>
              <a:t>| Notebook `.ipynb` (cells + outputs) | ✅ yes | `assets/notebook/*.ipynb` |</a:t>
            </a:r>
          </a:p>
          <a:p>
            <a:r>
              <a:t>| **File** data asset | ✅ **bytes included** | `assets/&lt;catalog&gt;/&lt;asset-id&gt;/&lt;attachment-id&gt;` holds the raw file |</a:t>
            </a:r>
          </a:p>
          <a:p>
            <a:r>
              <a:t>| **Connected** data asset | ⚠️ **reference only** | attachment has `is_remote:true`, `size:0`, a `connection_path` — **no bytes** |</a:t>
            </a:r>
          </a:p>
          <a:p>
            <a:r>
              <a:t>| Connection definition | ✅ yes | `assets/.METADATA/connection.*.json` |</a:t>
            </a:r>
          </a:p>
          <a:p/>
          <a:p>
            <a:r>
              <a:t>### Connection credentials are exported in cleartext</a:t>
            </a:r>
          </a:p>
          <a:p/>
          <a:p>
            <a:r>
              <a:t>This corrected an earlier assumption and is the single most important finding for anyone operating</a:t>
            </a:r>
          </a:p>
          <a:p>
            <a:r>
              <a:t>this blueprint. Credentials in connection assets are **not redacted by default**:</a:t>
            </a:r>
          </a:p>
          <a:p/>
          <a:p>
            <a:r>
              <a:t>```</a:t>
            </a:r>
          </a:p>
          <a:p>
            <a:r>
              <a:t># export WITHOUT --encryption-key:</a:t>
            </a:r>
          </a:p>
          <a:p>
            <a:r>
              <a:t>"secret_key": "&lt;the real secret, in clear&gt;"</a:t>
            </a:r>
          </a:p>
          <a:p/>
          <a:p>
            <a:r>
              <a:t># export WITH --encryption-key 'MyS3cretKey!':</a:t>
            </a:r>
          </a:p>
          <a:p>
            <a:r>
              <a:t>"secret_key": "GprEWcYZaF1R1GtwNQ7KEA==:twdCDnHwxVM="   # encrypted; access_key stays clear</a:t>
            </a:r>
          </a:p>
          <a:p>
            <a:r>
              <a:t>```</a:t>
            </a:r>
          </a:p>
          <a:p/>
          <a:p>
            <a:r>
              <a:t>Consequences, in short: the bundle is **sensitive**, so the PVCs holding it and the backup namespace</a:t>
            </a:r>
          </a:p>
          <a:p>
            <a:r>
              <a:t>must be locked down regardless; and for any multi-tenant use the export must pass</a:t>
            </a:r>
          </a:p>
          <a:p>
            <a:r>
              <a:t>`--encryption-key` with the restore passing the same key. Losing the key means losing the</a:t>
            </a:r>
          </a:p>
          <a:p>
            <a:r>
              <a:t>credentials inside the restored connections. The operational guidance — when plaintext-plus-RBAC is</a:t>
            </a:r>
          </a:p>
          <a:p>
            <a:r>
              <a:t>acceptable and when encryption becomes mandatory — is in</a:t>
            </a:r>
          </a:p>
          <a:p>
            <a:r>
              <a:t>[README.md § Security](README.md#security--credentials-in-the-bundle-read-this).</a:t>
            </a:r>
          </a:p>
          <a:p/>
          <a:p>
            <a:r>
              <a:t>### What `cpdctl` does not protect</a:t>
            </a:r>
          </a:p>
          <a:p/>
          <a:p>
            <a:r>
              <a:t>The connected-data-asset row above makes the boundary concrete. Export captures the **project**;</a:t>
            </a:r>
          </a:p>
          <a:p>
            <a:r>
              <a:t>it does not capture the **external data** a connection points at — the S3 objects, the rows in a</a:t>
            </a:r>
          </a:p>
          <a:p>
            <a:r>
              <a:t>Db2, the files on an on-prem share. Those live outside CP4D.</a:t>
            </a:r>
          </a:p>
          <a:p/>
          <a:p>
            <a:r>
              <a:t>This is a **deliberate boundary, not a defect**, and it is the same boundary `cpdbr` has: you</a:t>
            </a:r>
          </a:p>
          <a:p>
            <a:r>
              <a:t>protect what the tool captures, and anything external becomes an explicit, per-connection decision.</a:t>
            </a:r>
          </a:p>
          <a:p>
            <a:r>
              <a:t>See [README.md § The external-datasource boundary](README.md#the-external-datasource-boundary) for</a:t>
            </a:r>
          </a:p>
          <a:p>
            <a:r>
              <a:t>how to make that decision.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7. Why "latest `cpdctl`" is the right version policy</a:t>
            </a:r>
          </a:p>
          <a:p/>
          <a:p>
            <a:r>
              <a:t>Install the **newest stable `cpdctl`**, not a version matched to your CP4D release. `cpdctl`</a:t>
            </a:r>
          </a:p>
          <a:p>
            <a:r>
              <a:t>versioning (1.x — 1.8.244 when this was written, 1.10.34 in the 5.4 re-validation) is **decoupled** from CP4D versioning (4.x / 5.x); the `cpdctl` README states:</a:t>
            </a:r>
          </a:p>
          <a:p/>
          <a:p>
            <a:r>
              <a:t>&gt; *"Always use most recent IBM cpdctl version available. It is backward compatible with all</a:t>
            </a:r>
          </a:p>
          <a:p>
            <a:r>
              <a:t>&gt; supported Cloud Pak for Data releases."*</a:t>
            </a:r>
          </a:p>
          <a:p/>
          <a:p>
            <a:r>
              <a:t>Two caveats worth keeping straight:</a:t>
            </a:r>
          </a:p>
          <a:p/>
          <a:p>
            <a:r>
              <a:t>- **"all *supported* releases"** is scoped to CP4D versions still in IBM support. A long-EOL CP4D</a:t>
            </a:r>
          </a:p>
          <a:p>
            <a:r>
              <a:t>  could fall off.</a:t>
            </a:r>
          </a:p>
          <a:p>
            <a:r>
              <a:t>- **Client↔backend compatibility is not bundle↔bundle portability.** "Latest `cpdctl` handles all</a:t>
            </a:r>
          </a:p>
          <a:p>
            <a:r>
              <a:t>  CP4D versions" means the *CLI can talk to* them. It does **not** promise that a bundle exported</a:t>
            </a:r>
          </a:p>
          <a:p>
            <a:r>
              <a:t>  against one release imports cleanly into another — the bundle format is a property of the CP4D</a:t>
            </a:r>
          </a:p>
          <a:p>
            <a:r>
              <a:t>  backend that produced it, not of the CLI. That is the **version-skew** risk listed in §4.</a:t>
            </a:r>
          </a:p>
          <a:p/>
          <a:p>
            <a:r>
              <a:t>  **One pair is measured (2026-10-16):** after upgrading the cluster from 5.2.2 to 5.4.0 Patch 7,</a:t>
            </a:r>
          </a:p>
          <a:p>
            <a:r>
              <a:t>  a project bundle exported by **5.2.2** (restored from a pre-upgrade Kasten restore point)</a:t>
            </a:r>
          </a:p>
          <a:p>
            <a:r>
              <a:t>  imported into **5.4.0** with `restore.sh` and came back with its notebook, job and file data</a:t>
            </a:r>
          </a:p>
          <a:p>
            <a:r>
              <a:t>  asset. That is the case that matters right after an upgrade, when every restore point still</a:t>
            </a:r>
          </a:p>
          <a:p>
            <a:r>
              <a:t>  holds bundles from the old release. It says nothing about other pairs, or about a downgrade.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920240"/>
            <a:ext cx="10058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A78D6"/>
                </a:solidFill>
                <a:latin typeface="Calibri"/>
              </a:rPr>
              <a:t>CLOUD PAK FOR DATA · KASTEN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0B0B0B"/>
                </a:solidFill>
                <a:latin typeface="Calibri"/>
              </a:rPr>
              <a:t>Artifact-level backup — the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2918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 i="0">
                <a:solidFill>
                  <a:srgbClr val="52514E"/>
                </a:solidFill>
                <a:latin typeface="Calibri"/>
              </a:rPr>
              <a:t>Why the API is the only path to a notebook, how it maps onto the Kasten blueprint patterns, and what the export bundle actually contains.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05840" y="4617720"/>
            <a:ext cx="5669280" cy="0"/>
          </a:xfrm>
          <a:prstGeom prst="line">
            <a:avLst/>
          </a:prstGeom>
          <a:ln w="12700">
            <a:solidFill>
              <a:srgbClr val="C3C2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480060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898781"/>
                </a:solidFill>
                <a:latin typeface="Calibri"/>
              </a:rPr>
              <a:t>Validated end-to-end · Kasten 9.0.7 · OpenShift 4.21.30 · CP4D 5.4.0 · cpdctl 1.10.34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898781"/>
                </a:solidFill>
                <a:latin typeface="Calibri"/>
              </a:rPr>
              <a:t>Speaker notes on every slide carry the full text of the matching DESIGN.md section.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A78D6"/>
                </a:solidFill>
                <a:latin typeface="Calibri"/>
              </a:rPr>
              <a:t>SECTION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Where this fits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33856"/>
            <a:ext cx="11057839" cy="0"/>
          </a:xfrm>
          <a:prstGeom prst="line">
            <a:avLst/>
          </a:prstGeom>
          <a:ln w="12700">
            <a:solidFill>
              <a:srgbClr val="C3C2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55664"/>
            <a:ext cx="110578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CP4D artifact-level backup with Kasten · DESIGN.md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389888"/>
            <a:ext cx="5373471" cy="2706624"/>
          </a:xfrm>
          <a:prstGeom prst="roundRect">
            <a:avLst>
              <a:gd name="adj" fmla="val 6000"/>
            </a:avLst>
          </a:prstGeom>
          <a:solidFill>
            <a:srgbClr val="F4F4F1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50800" cy="2523744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536192"/>
            <a:ext cx="50808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B0B0B"/>
                </a:solidFill>
                <a:latin typeface="Calibri"/>
              </a:rPr>
              <a:t>cpdbr / cpd-cli oadp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847088"/>
            <a:ext cx="5080863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Platform-level backup that ships with CP4D.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•  Scope: the whole tenant — all of CP4D at once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•  Coupled to a resource-backup engine plus a separate object store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•  Built for infrastructure DR of the entire installation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•  Protects the control plane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1295" y="1389888"/>
            <a:ext cx="5373471" cy="2706624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1295" y="1481328"/>
            <a:ext cx="50800" cy="252374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9039" y="1536192"/>
            <a:ext cx="50808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B0B0B"/>
                </a:solidFill>
                <a:latin typeface="Calibri"/>
              </a:rPr>
              <a:t>This blueprint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9039" y="1847088"/>
            <a:ext cx="5080863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Artifact-level backup of analytics projects.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•  Scope: one project at a time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•  Granular, self-service restore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•  Portability — migrate a project to another cluster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•  Needs the platform up; does not protect the control plane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52544"/>
            <a:ext cx="11057839" cy="114300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443984"/>
            <a:ext cx="50800" cy="9601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498848"/>
            <a:ext cx="1076523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B0B0B"/>
                </a:solidFill>
                <a:latin typeface="Calibri"/>
              </a:rPr>
              <a:t>A complement, not a replacement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809744"/>
            <a:ext cx="10765231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Two different jobs, not two options for the same job. Platform DR restores the installation; this restores a project. Positioning it as a DR replacement is the one mistake to avoid — it needs the CP4D platform to be up, and it does not protect the control plane.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A78D6"/>
                </a:solidFill>
                <a:latin typeface="Calibri"/>
              </a:rPr>
              <a:t>SECTION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What a CP4D artifact is — and why the API is the only path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33856"/>
            <a:ext cx="11057839" cy="0"/>
          </a:xfrm>
          <a:prstGeom prst="line">
            <a:avLst/>
          </a:prstGeom>
          <a:ln w="12700">
            <a:solidFill>
              <a:srgbClr val="C3C2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55664"/>
            <a:ext cx="110578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CP4D artifact-level backup with Kasten · DESIGN.md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389888"/>
            <a:ext cx="9320479" cy="1298448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50800" cy="11155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536192"/>
            <a:ext cx="902787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B0B0B"/>
                </a:solidFill>
                <a:latin typeface="Calibri"/>
              </a:rPr>
              <a:t>CP4D application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847088"/>
            <a:ext cx="9027871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Entities in CP4D's metadata database + object storage.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31136"/>
            <a:ext cx="165927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0">
                <a:solidFill>
                  <a:srgbClr val="2A78D6"/>
                </a:solidFill>
                <a:latin typeface="Calibri"/>
              </a:rPr>
              <a:t>Project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10246" y="2231136"/>
            <a:ext cx="165927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0">
                <a:solidFill>
                  <a:srgbClr val="2A78D6"/>
                </a:solidFill>
                <a:latin typeface="Calibri"/>
              </a:rPr>
              <a:t>Notebook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7532" y="2231136"/>
            <a:ext cx="165927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0">
                <a:solidFill>
                  <a:srgbClr val="2A78D6"/>
                </a:solidFill>
                <a:latin typeface="Calibri"/>
              </a:rPr>
              <a:t>Job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4818" y="2231136"/>
            <a:ext cx="165927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0">
                <a:solidFill>
                  <a:srgbClr val="2A78D6"/>
                </a:solidFill>
                <a:latin typeface="Calibri"/>
              </a:rPr>
              <a:t>Connection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2104" y="2231136"/>
            <a:ext cx="165927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0">
                <a:solidFill>
                  <a:srgbClr val="2A78D6"/>
                </a:solidFill>
                <a:latin typeface="Calibri"/>
              </a:rPr>
              <a:t>Data asset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6928" y="2871216"/>
            <a:ext cx="9320479" cy="0"/>
          </a:xfrm>
          <a:prstGeom prst="line">
            <a:avLst/>
          </a:prstGeom>
          <a:ln w="31750">
            <a:solidFill>
              <a:srgbClr val="D03B3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2935224"/>
            <a:ext cx="93204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D03B3B"/>
                </a:solidFill>
                <a:latin typeface="Calibri"/>
              </a:rPr>
              <a:t>`oc get` will never show a notebook — no CRD, no PVC, no ConfigMap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236976"/>
            <a:ext cx="9320479" cy="1298448"/>
          </a:xfrm>
          <a:prstGeom prst="roundRect">
            <a:avLst>
              <a:gd name="adj" fmla="val 6000"/>
            </a:avLst>
          </a:prstGeom>
          <a:solidFill>
            <a:srgbClr val="F4F4F1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50800" cy="1115568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383280"/>
            <a:ext cx="902787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B0B0B"/>
                </a:solidFill>
                <a:latin typeface="Calibri"/>
              </a:rPr>
              <a:t>Kubernetes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694176"/>
            <a:ext cx="9027871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Everything a resource backup can see.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078224"/>
            <a:ext cx="165927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3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0">
                <a:solidFill>
                  <a:srgbClr val="52514E"/>
                </a:solidFill>
                <a:latin typeface="Calibri"/>
              </a:rPr>
              <a:t>Namespaces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10246" y="4078224"/>
            <a:ext cx="165927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3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0">
                <a:solidFill>
                  <a:srgbClr val="52514E"/>
                </a:solidFill>
                <a:latin typeface="Calibri"/>
              </a:rPr>
              <a:t>Pods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97532" y="4078224"/>
            <a:ext cx="165927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3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0">
                <a:solidFill>
                  <a:srgbClr val="52514E"/>
                </a:solidFill>
                <a:latin typeface="Calibri"/>
              </a:rPr>
              <a:t>PVCs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84818" y="4078224"/>
            <a:ext cx="165927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3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0">
                <a:solidFill>
                  <a:srgbClr val="52514E"/>
                </a:solidFill>
                <a:latin typeface="Calibri"/>
              </a:rPr>
              <a:t>CRs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72104" y="4078224"/>
            <a:ext cx="165927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3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0">
                <a:solidFill>
                  <a:srgbClr val="52514E"/>
                </a:solidFill>
                <a:latin typeface="Calibri"/>
              </a:rPr>
              <a:t>Secrets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98303" y="1389888"/>
            <a:ext cx="1426464" cy="1298448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98303" y="1792224"/>
            <a:ext cx="14264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cpdctl</a:t>
            </a:r>
          </a:p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REST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8303" y="2761488"/>
            <a:ext cx="14264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 i="0">
                <a:solidFill>
                  <a:srgbClr val="2A78D6"/>
                </a:solidFill>
                <a:latin typeface="Calibri"/>
              </a:rPr>
              <a:t>the only door in</a:t>
            </a:r>
          </a:p>
        </p:txBody>
      </p:sp>
      <p:sp>
        <p:nvSpPr>
          <p:cNvPr id="29" name="Left Arrow 28"/>
          <p:cNvSpPr/>
          <p:nvPr/>
        </p:nvSpPr>
        <p:spPr>
          <a:xfrm>
            <a:off x="9887407" y="1938528"/>
            <a:ext cx="310896" cy="182880"/>
          </a:xfrm>
          <a:prstGeom prst="leftArrow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66928" y="4754880"/>
            <a:ext cx="3527450" cy="1170432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4846320"/>
            <a:ext cx="50800" cy="987552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873752"/>
            <a:ext cx="3289706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1" i="0">
                <a:solidFill>
                  <a:srgbClr val="52514E"/>
                </a:solidFill>
                <a:latin typeface="Calibri"/>
              </a:rPr>
              <a:t>1.  A notebook is not a file, and not a CRD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A Kubernetes resource backup cannot see it at all — so the API path is not the cleaner option here, it is the only one.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32122" y="4754880"/>
            <a:ext cx="3527450" cy="1170432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32122" y="4846320"/>
            <a:ext cx="50800" cy="987552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42434" y="4873752"/>
            <a:ext cx="3289706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1" i="0">
                <a:solidFill>
                  <a:srgbClr val="52514E"/>
                </a:solidFill>
                <a:latin typeface="Calibri"/>
              </a:rPr>
              <a:t>2.  The unit is the project, not the notebook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A notebook without its runtime binding, data assets and relationship graph is not usefully restorable.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7316" y="4754880"/>
            <a:ext cx="3527450" cy="1170432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97316" y="4846320"/>
            <a:ext cx="50800" cy="987552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07628" y="4873752"/>
            <a:ext cx="3289706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1" i="0">
                <a:solidFill>
                  <a:srgbClr val="52514E"/>
                </a:solidFill>
                <a:latin typeface="Calibri"/>
              </a:rPr>
              <a:t>3.  The tool is cpdctl, not cpd-cli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cpd-cli is the platform/install CLI — the cpdbr world. cpdctl is the runtime CLI for projects and assets.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08990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B0B0B"/>
                </a:solidFill>
                <a:latin typeface="Calibri"/>
              </a:rPr>
              <a:t>Consequence: </a:t>
            </a:r>
            <a:r>
              <a:rPr sz="1300" b="1" i="0">
                <a:solidFill>
                  <a:srgbClr val="0B0B0B"/>
                </a:solidFill>
                <a:latin typeface="Calibri"/>
              </a:rPr>
              <a:t>PVC = unit of granularity = unit of multi-tenant restore.</a:t>
            </a:r>
            <a:r>
              <a:rPr sz="1300" b="0" i="0">
                <a:solidFill>
                  <a:srgbClr val="0B0B0B"/>
                </a:solidFill>
                <a:latin typeface="Calibri"/>
              </a:rPr>
              <a:t> One project, one PVC.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A78D6"/>
                </a:solidFill>
                <a:latin typeface="Calibri"/>
              </a:rPr>
              <a:t>SECTION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How it maps onto the blueprint patterns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33856"/>
            <a:ext cx="11057839" cy="0"/>
          </a:xfrm>
          <a:prstGeom prst="line">
            <a:avLst/>
          </a:prstGeom>
          <a:ln w="12700">
            <a:solidFill>
              <a:srgbClr val="C3C2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55664"/>
            <a:ext cx="110578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CP4D artifact-level backup with Kasten · DESIGN.md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52514E"/>
                </a:solidFill>
                <a:latin typeface="Calibri"/>
              </a:rPr>
              <a:t>Pattern 4 (dump to a permanent keeper PVC) + the action-hook mechanism.</a:t>
            </a:r>
            <a:r>
              <a:rPr sz="1300" b="0" i="0">
                <a:solidFill>
                  <a:srgbClr val="52514E"/>
                </a:solidFill>
                <a:latin typeface="Calibri"/>
              </a:rPr>
              <a:t> Kasten is the data mover; the blueprint never transfers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47088"/>
            <a:ext cx="11057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898781"/>
                </a:solidFill>
                <a:latin typeface="Calibri"/>
              </a:rPr>
              <a:t>WHY AN ACTION HOOK — DISCOVERY ORDERING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2395728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2A78D6"/>
                </a:solidFill>
                <a:latin typeface="Calibri"/>
              </a:rPr>
              <a:t>BackupAction
preHook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990088" y="2331720"/>
            <a:ext cx="201168" cy="164592"/>
          </a:xfrm>
          <a:prstGeom prst="rightArrow">
            <a:avLst/>
          </a:prstGeom>
          <a:solidFill>
            <a:srgbClr val="C3C2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18688" y="2157984"/>
            <a:ext cx="2395728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987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0">
                <a:solidFill>
                  <a:srgbClr val="52514E"/>
                </a:solidFill>
                <a:latin typeface="Calibri"/>
              </a:rPr>
              <a:t>PVC
discovery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641848" y="2331720"/>
            <a:ext cx="201168" cy="164592"/>
          </a:xfrm>
          <a:prstGeom prst="rightArrow">
            <a:avLst/>
          </a:prstGeom>
          <a:solidFill>
            <a:srgbClr val="C3C2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70448" y="2157984"/>
            <a:ext cx="2395728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987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0">
                <a:solidFill>
                  <a:srgbClr val="52514E"/>
                </a:solidFill>
                <a:latin typeface="Calibri"/>
              </a:rPr>
              <a:t>CSI
snapshots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293608" y="2331720"/>
            <a:ext cx="201168" cy="164592"/>
          </a:xfrm>
          <a:prstGeom prst="rightArrow">
            <a:avLst/>
          </a:prstGeom>
          <a:solidFill>
            <a:srgbClr val="C3C2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22208" y="2157984"/>
            <a:ext cx="2395728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987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0">
                <a:solidFill>
                  <a:srgbClr val="52514E"/>
                </a:solidFill>
                <a:latin typeface="Calibri"/>
              </a:rPr>
              <a:t>restore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761488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The set of projects — and therefore the set of PVCs — is only known at run time. A per-project PVC created in the preHook lands in the restore point; the same PVC created in a resource-bound `backupPrehook` would be created </a:t>
            </a:r>
            <a:r>
              <a:rPr sz="1200" b="1" i="0">
                <a:solidFill>
                  <a:srgbClr val="52514E"/>
                </a:solidFill>
                <a:latin typeface="Calibri"/>
              </a:rPr>
              <a:t>after</a:t>
            </a:r>
            <a:r>
              <a:rPr sz="1200" b="0" i="0">
                <a:solidFill>
                  <a:srgbClr val="52514E"/>
                </a:solidFill>
                <a:latin typeface="Calibri"/>
              </a:rPr>
              <a:t> discovery and silently left out. Trade-off: namespace-only context, one blueprint per namespace.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401568"/>
            <a:ext cx="11057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898781"/>
                </a:solidFill>
                <a:latin typeface="Calibri"/>
              </a:rPr>
              <a:t>WHAT THE HOOK DOES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694176"/>
            <a:ext cx="2021372" cy="512064"/>
          </a:xfrm>
          <a:prstGeom prst="roundRect">
            <a:avLst>
              <a:gd name="adj" fmla="val 50000"/>
            </a:avLst>
          </a:prstGeom>
          <a:solidFill>
            <a:srgbClr val="F4F4F1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0">
                <a:solidFill>
                  <a:srgbClr val="52514E"/>
                </a:solidFill>
                <a:latin typeface="Calibri"/>
              </a:rPr>
              <a:t>enumerate
projects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606588" y="3867912"/>
            <a:ext cx="201168" cy="164592"/>
          </a:xfrm>
          <a:prstGeom prst="rightArrow">
            <a:avLst/>
          </a:prstGeom>
          <a:solidFill>
            <a:srgbClr val="C3C2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826044" y="3694176"/>
            <a:ext cx="2021372" cy="512064"/>
          </a:xfrm>
          <a:prstGeom prst="roundRect">
            <a:avLst>
              <a:gd name="adj" fmla="val 50000"/>
            </a:avLst>
          </a:prstGeom>
          <a:solidFill>
            <a:srgbClr val="F4F4F1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0">
                <a:solidFill>
                  <a:srgbClr val="52514E"/>
                </a:solidFill>
                <a:latin typeface="Calibri"/>
              </a:rPr>
              <a:t>ensure one PVC
per project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865705" y="3867912"/>
            <a:ext cx="201168" cy="164592"/>
          </a:xfrm>
          <a:prstGeom prst="rightArrow">
            <a:avLst/>
          </a:prstGeom>
          <a:solidFill>
            <a:srgbClr val="C3C2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85161" y="3694176"/>
            <a:ext cx="2021372" cy="512064"/>
          </a:xfrm>
          <a:prstGeom prst="roundRect">
            <a:avLst>
              <a:gd name="adj" fmla="val 50000"/>
            </a:avLst>
          </a:prstGeom>
          <a:solidFill>
            <a:srgbClr val="F4F4F1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0">
                <a:solidFill>
                  <a:srgbClr val="52514E"/>
                </a:solidFill>
                <a:latin typeface="Calibri"/>
              </a:rPr>
              <a:t>launch one
export pod each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124821" y="3867912"/>
            <a:ext cx="201168" cy="164592"/>
          </a:xfrm>
          <a:prstGeom prst="rightArrow">
            <a:avLst/>
          </a:prstGeom>
          <a:solidFill>
            <a:srgbClr val="C3C2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44277" y="3694176"/>
            <a:ext cx="2021372" cy="512064"/>
          </a:xfrm>
          <a:prstGeom prst="roundRect">
            <a:avLst>
              <a:gd name="adj" fmla="val 50000"/>
            </a:avLst>
          </a:prstGeom>
          <a:solidFill>
            <a:srgbClr val="F4F4F1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0">
                <a:solidFill>
                  <a:srgbClr val="52514E"/>
                </a:solidFill>
                <a:latin typeface="Calibri"/>
              </a:rPr>
              <a:t>prune deleted
projects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383938" y="3867912"/>
            <a:ext cx="201168" cy="164592"/>
          </a:xfrm>
          <a:prstGeom prst="rightArrow">
            <a:avLst/>
          </a:prstGeom>
          <a:solidFill>
            <a:srgbClr val="C3C2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03394" y="3694176"/>
            <a:ext cx="2021372" cy="512064"/>
          </a:xfrm>
          <a:prstGeom prst="roundRect">
            <a:avLst>
              <a:gd name="adj" fmla="val 50000"/>
            </a:avLst>
          </a:prstGeom>
          <a:solidFill>
            <a:srgbClr val="F4F4F1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0">
                <a:solidFill>
                  <a:srgbClr val="52514E"/>
                </a:solidFill>
                <a:latin typeface="Calibri"/>
              </a:rPr>
              <a:t>delete export
pods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29768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B0B0B"/>
                </a:solidFill>
                <a:latin typeface="Calibri"/>
              </a:rPr>
              <a:t>→ then </a:t>
            </a:r>
            <a:r>
              <a:rPr sz="1200" b="1" i="0">
                <a:solidFill>
                  <a:srgbClr val="0B0B0B"/>
                </a:solidFill>
                <a:latin typeface="Calibri"/>
              </a:rPr>
              <a:t>Kasten snapshots those PVCs</a:t>
            </a:r>
            <a:r>
              <a:rPr sz="1200" b="0" i="0">
                <a:solidFill>
                  <a:srgbClr val="0B0B0B"/>
                </a:solidFill>
                <a:latin typeface="Calibri"/>
              </a:rPr>
              <a:t>. No KanisterBackupData, no KanisterRestoreData.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4663440"/>
            <a:ext cx="11057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898781"/>
                </a:solidFill>
                <a:latin typeface="Calibri"/>
              </a:rPr>
              <a:t>DECISIONS THAT FOLLOW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937760"/>
            <a:ext cx="2627299" cy="786384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5029200"/>
            <a:ext cx="50800" cy="603504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5029200"/>
            <a:ext cx="244441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 i="0">
                <a:solidFill>
                  <a:srgbClr val="52514E"/>
                </a:solidFill>
                <a:latin typeface="Calibri"/>
              </a:rPr>
              <a:t>Permanent GUID-keyed PVCs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so CSI block-level dedup works across runs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77107" y="4937760"/>
            <a:ext cx="2627299" cy="786384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77107" y="5029200"/>
            <a:ext cx="50800" cy="603504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59987" y="5029200"/>
            <a:ext cx="244441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 i="0">
                <a:solidFill>
                  <a:srgbClr val="52514E"/>
                </a:solidFill>
                <a:latin typeface="Calibri"/>
              </a:rPr>
              <a:t>Store the export UNZIPPED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a zip is opaque to dedup; one cell edit = one file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87287" y="4937760"/>
            <a:ext cx="2627299" cy="786384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87287" y="5029200"/>
            <a:ext cx="50800" cy="603504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70167" y="5029200"/>
            <a:ext cx="244441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 i="0">
                <a:solidFill>
                  <a:srgbClr val="52514E"/>
                </a:solidFill>
                <a:latin typeface="Calibri"/>
              </a:rPr>
              <a:t>Restore decoupled from Kasten hooks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a standalone script fits multi-tenant restore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97467" y="4937760"/>
            <a:ext cx="2627299" cy="786384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997467" y="5029200"/>
            <a:ext cx="50800" cy="603504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80347" y="5029200"/>
            <a:ext cx="244441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 i="0">
                <a:solidFill>
                  <a:srgbClr val="52514E"/>
                </a:solidFill>
                <a:latin typeface="Calibri"/>
              </a:rPr>
              <a:t>Credentials outside the backed-up ns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never captured in any restore point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A78D6"/>
                </a:solidFill>
                <a:latin typeface="Calibri"/>
              </a:rPr>
              <a:t>SECTION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V1 scope, and the boundaries drawn on purpose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33856"/>
            <a:ext cx="11057839" cy="0"/>
          </a:xfrm>
          <a:prstGeom prst="line">
            <a:avLst/>
          </a:prstGeom>
          <a:ln w="12700">
            <a:solidFill>
              <a:srgbClr val="C3C2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55664"/>
            <a:ext cx="110578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CP4D artifact-level backup with Kasten · DESIGN.md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389888"/>
            <a:ext cx="3931920" cy="228600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50800" cy="2103120"/>
          </a:xfrm>
          <a:prstGeom prst="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536192"/>
            <a:ext cx="3639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B0B0B"/>
                </a:solidFill>
                <a:latin typeface="Calibri"/>
              </a:rPr>
              <a:t>In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847088"/>
            <a:ext cx="3639312" cy="1682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•  Notebooks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•  Jobs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•  File data assets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•  Connection definitions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•  The dependency graph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•  Environment / runtime definitions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73168" y="1389888"/>
            <a:ext cx="6851599" cy="2286000"/>
          </a:xfrm>
          <a:prstGeom prst="roundRect">
            <a:avLst>
              <a:gd name="adj" fmla="val 6000"/>
            </a:avLst>
          </a:prstGeom>
          <a:solidFill>
            <a:srgbClr val="F4F4F1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73168" y="1481328"/>
            <a:ext cx="50800" cy="2103120"/>
          </a:xfrm>
          <a:prstGeom prst="rect">
            <a:avLst/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10912" y="1536192"/>
            <a:ext cx="655899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B0B0B"/>
                </a:solidFill>
                <a:latin typeface="Calibri"/>
              </a:rPr>
              <a:t>Deliberately deferred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0912" y="1847088"/>
            <a:ext cx="6558991" cy="1682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1" i="0">
                <a:solidFill>
                  <a:srgbClr val="52514E"/>
                </a:solidFill>
                <a:latin typeface="Calibri"/>
              </a:rPr>
              <a:t>Custom runtime images</a:t>
            </a:r>
            <a:r>
              <a:rPr sz="1200" b="0" i="0">
                <a:solidFill>
                  <a:srgbClr val="52514E"/>
                </a:solidFill>
                <a:latin typeface="Calibri"/>
              </a:rPr>
              <a:t> — export captures the environment definition, not the image in the internal registry. Untested.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1" i="0">
                <a:solidFill>
                  <a:srgbClr val="52514E"/>
                </a:solidFill>
                <a:latin typeface="Calibri"/>
              </a:rPr>
              <a:t>External data behind connections</a:t>
            </a:r>
            <a:r>
              <a:rPr sz="1200" b="0" i="0">
                <a:solidFill>
                  <a:srgbClr val="52514E"/>
                </a:solidFill>
                <a:latin typeface="Calibri"/>
              </a:rPr>
              <a:t> — reference only (§6); separately protected.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1" i="0">
                <a:solidFill>
                  <a:srgbClr val="52514E"/>
                </a:solidFill>
                <a:latin typeface="Calibri"/>
              </a:rPr>
              <a:t>Version skew</a:t>
            </a:r>
            <a:r>
              <a:rPr sz="1200" b="0" i="0">
                <a:solidFill>
                  <a:srgbClr val="52514E"/>
                </a:solidFill>
                <a:latin typeface="Calibri"/>
              </a:rPr>
              <a:t> — logical export/import is version-sensitive; V1 targets same-version DR; 5.2.2 → 5.4.0 measured (§7).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1" i="0">
                <a:solidFill>
                  <a:srgbClr val="52514E"/>
                </a:solidFill>
                <a:latin typeface="Calibri"/>
              </a:rPr>
              <a:t>Git-based projects</a:t>
            </a:r>
            <a:r>
              <a:rPr sz="1200" b="0" i="0">
                <a:solidFill>
                  <a:srgbClr val="52514E"/>
                </a:solidFill>
                <a:latin typeface="Calibri"/>
              </a:rPr>
              <a:t> — validated only against COS-backed (`assetfiles`).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877056"/>
            <a:ext cx="11057839" cy="658368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968496"/>
            <a:ext cx="50800" cy="475488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995928"/>
            <a:ext cx="108200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1" i="0">
                <a:solidFill>
                  <a:srgbClr val="52514E"/>
                </a:solidFill>
                <a:latin typeface="Calibri"/>
              </a:rPr>
              <a:t>Not a deferral — a requirement.</a:t>
            </a:r>
            <a:r>
              <a:rPr sz="1250" b="0" i="0">
                <a:solidFill>
                  <a:srgbClr val="52514E"/>
                </a:solidFill>
                <a:latin typeface="Calibri"/>
              </a:rPr>
              <a:t> Connection credentials were assumed to be redacted on export. They are not (§6). That finding changed the design.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663440"/>
            <a:ext cx="11057839" cy="1609344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754880"/>
            <a:ext cx="50800" cy="1426464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809744"/>
            <a:ext cx="1076523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B0B0B"/>
                </a:solidFill>
                <a:latin typeface="Calibri"/>
              </a:rPr>
              <a:t>Git-based does not remove the need to back up the metadata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5120640"/>
            <a:ext cx="1076523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1" i="0">
                <a:solidFill>
                  <a:srgbClr val="52514E"/>
                </a:solidFill>
                <a:latin typeface="Calibri"/>
              </a:rPr>
              <a:t>Git is tamper-evident, not tamper-proof.</a:t>
            </a:r>
            <a:r>
              <a:rPr sz="1200" b="0" i="0">
                <a:solidFill>
                  <a:srgbClr val="52514E"/>
                </a:solidFill>
                <a:latin typeface="Calibri"/>
              </a:rPr>
              <a:t> Hashes and signatures let you detect a force-push, a rewritten branch or a deleted repo — they do not give you the previous state back. Detection is not recovery.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1" i="0">
                <a:solidFill>
                  <a:srgbClr val="52514E"/>
                </a:solidFill>
                <a:latin typeface="Calibri"/>
              </a:rPr>
              <a:t>Git is usually inside the blast radius.</a:t>
            </a:r>
            <a:r>
              <a:rPr sz="1200" b="0" i="0">
                <a:solidFill>
                  <a:srgbClr val="52514E"/>
                </a:solidFill>
                <a:latin typeface="Calibri"/>
              </a:rPr>
              <a:t> A disaster or ransomware event takes the git server, its runners and the credentials that reach them.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→ </a:t>
            </a:r>
            <a:r>
              <a:rPr sz="1200" b="1" i="0">
                <a:solidFill>
                  <a:srgbClr val="52514E"/>
                </a:solidFill>
                <a:latin typeface="Calibri"/>
              </a:rPr>
              <a:t>Two things to protect, not one:</a:t>
            </a:r>
            <a:r>
              <a:rPr sz="1200" b="0" i="0">
                <a:solidFill>
                  <a:srgbClr val="52514E"/>
                </a:solidFill>
                <a:latin typeface="Calibri"/>
              </a:rPr>
              <a:t> this blueprint for the CP4D metadata, an independent process for the git remote. Git-based projects are not simpler.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A78D6"/>
                </a:solidFill>
                <a:latin typeface="Calibri"/>
              </a:rPr>
              <a:t>SECTION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What export/import actually produces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33856"/>
            <a:ext cx="11057839" cy="0"/>
          </a:xfrm>
          <a:prstGeom prst="line">
            <a:avLst/>
          </a:prstGeom>
          <a:ln w="12700">
            <a:solidFill>
              <a:srgbClr val="C3C2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55664"/>
            <a:ext cx="110578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CP4D artifact-level backup with Kasten · DESIGN.md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Fixture: one project, a 2-cell notebook + the job that runs it. Bundle: </a:t>
            </a:r>
            <a:r>
              <a:rPr sz="1300" b="1" i="0">
                <a:solidFill>
                  <a:srgbClr val="52514E"/>
                </a:solidFill>
                <a:latin typeface="Calibri"/>
              </a:rPr>
              <a:t>147 KB, 76 files</a:t>
            </a:r>
            <a:r>
              <a:rPr sz="1300" b="0" i="0">
                <a:solidFill>
                  <a:srgbClr val="52514E"/>
                </a:solidFill>
                <a:latin typeface="Calibri"/>
              </a:rPr>
              <a:t> — for a </a:t>
            </a:r>
            <a:r>
              <a:rPr sz="1300" b="1" i="0">
                <a:solidFill>
                  <a:srgbClr val="52514E"/>
                </a:solidFill>
                <a:latin typeface="Calibri"/>
              </a:rPr>
              <a:t>995-byte</a:t>
            </a:r>
            <a:r>
              <a:rPr sz="1300" b="0" i="0">
                <a:solidFill>
                  <a:srgbClr val="52514E"/>
                </a:solidFill>
                <a:latin typeface="Calibri"/>
              </a:rPr>
              <a:t> notebook.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56816"/>
            <a:ext cx="7715087" cy="566928"/>
          </a:xfrm>
          <a:prstGeom prst="roundRect">
            <a:avLst>
              <a:gd name="adj" fmla="val 10000"/>
            </a:avLst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07415" y="1956816"/>
            <a:ext cx="3317351" cy="566928"/>
          </a:xfrm>
          <a:prstGeom prst="roundRect">
            <a:avLst>
              <a:gd name="adj" fmla="val 22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2103120"/>
            <a:ext cx="7459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assettypes/ — 70 asset-type schemas (the metamodel)   ~70%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64895" y="2103120"/>
            <a:ext cx="30430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payload   ~30%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633472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Schema overhead is roughly </a:t>
            </a:r>
            <a:r>
              <a:rPr sz="1200" b="1" i="0">
                <a:solidFill>
                  <a:srgbClr val="52514E"/>
                </a:solidFill>
                <a:latin typeface="Calibri"/>
              </a:rPr>
              <a:t>constant regardless of content</a:t>
            </a:r>
            <a:r>
              <a:rPr sz="1200" b="0" i="0">
                <a:solidFill>
                  <a:srgbClr val="52514E"/>
                </a:solidFill>
                <a:latin typeface="Calibri"/>
              </a:rPr>
              <a:t> — which is exactly why the bundle is stored </a:t>
            </a:r>
            <a:r>
              <a:rPr sz="1200" b="1" i="0">
                <a:solidFill>
                  <a:srgbClr val="52514E"/>
                </a:solidFill>
                <a:latin typeface="Calibri"/>
              </a:rPr>
              <a:t>unzipped</a:t>
            </a:r>
            <a:r>
              <a:rPr sz="1200" b="0" i="0">
                <a:solidFill>
                  <a:srgbClr val="52514E"/>
                </a:solidFill>
                <a:latin typeface="Calibri"/>
              </a:rPr>
              <a:t>: a one-cell edit rewrites one file, and the constant schema mass dedups across snapshots instead of being re-shipped inside a fresh archive.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5264"/>
            <a:ext cx="3539642" cy="1207008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346704"/>
            <a:ext cx="50800" cy="10241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3364992"/>
            <a:ext cx="3320186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1" i="0">
                <a:solidFill>
                  <a:srgbClr val="52514E"/>
                </a:solidFill>
                <a:latin typeface="Calibri"/>
              </a:rPr>
              <a:t>Artifacts — the payload, and it is tiny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`assets/notebook/*.ipynb` is the real notebook, cells and outputs included. The job asset was captured too — `--assets-all-assets` really means all project assets.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6026" y="3255264"/>
            <a:ext cx="3539642" cy="1207008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6026" y="3346704"/>
            <a:ext cx="50800" cy="1024128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7194" y="3364992"/>
            <a:ext cx="3320186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1" i="0">
                <a:solidFill>
                  <a:srgbClr val="52514E"/>
                </a:solidFill>
                <a:latin typeface="Calibri"/>
              </a:rPr>
              <a:t>Graph + project definition — small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`assetrelationships.json` records the job→notebook "uses" relationship. `project.json` shows `storage.type = assetfiles` — a COS-backed, not git-based, project.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5124" y="3255264"/>
            <a:ext cx="3539642" cy="1207008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5124" y="3346704"/>
            <a:ext cx="50800" cy="1024128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6292" y="3364992"/>
            <a:ext cx="3320186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1" i="0">
                <a:solidFill>
                  <a:srgbClr val="52514E"/>
                </a:solidFill>
                <a:latin typeface="Calibri"/>
              </a:rPr>
              <a:t>assettypes/ — 70 files, ~70%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0" i="0">
                <a:solidFill>
                  <a:srgbClr val="52514E"/>
                </a:solidFill>
                <a:latin typeface="Calibri"/>
              </a:rPr>
              <a:t>Asset-type schemas — the metamodel, not instances. Why a 995-byte notebook yields a 147 KB bundle.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626864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898781"/>
                </a:solidFill>
                <a:latin typeface="Calibri"/>
              </a:rPr>
              <a:t>ROUND-TRIP FIDELITY — VERIFIED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901184"/>
            <a:ext cx="2627299" cy="603504"/>
          </a:xfrm>
          <a:prstGeom prst="roundRect">
            <a:avLst>
              <a:gd name="adj" fmla="val 6000"/>
            </a:avLst>
          </a:prstGeom>
          <a:solidFill>
            <a:srgbClr val="F4F4F1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992624"/>
            <a:ext cx="24444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✓  </a:t>
            </a:r>
            <a:r>
              <a:rPr sz="1050" b="1" i="0">
                <a:solidFill>
                  <a:srgbClr val="52514E"/>
                </a:solidFill>
                <a:latin typeface="Calibri"/>
              </a:rPr>
              <a:t>Notebook content (cells + outputs)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byte-for-byte identical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77107" y="4901184"/>
            <a:ext cx="2627299" cy="603504"/>
          </a:xfrm>
          <a:prstGeom prst="roundRect">
            <a:avLst>
              <a:gd name="adj" fmla="val 6000"/>
            </a:avLst>
          </a:prstGeom>
          <a:solidFill>
            <a:srgbClr val="F4F4F1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68547" y="4992624"/>
            <a:ext cx="24444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✓  </a:t>
            </a:r>
            <a:r>
              <a:rPr sz="1050" b="1" i="0">
                <a:solidFill>
                  <a:srgbClr val="52514E"/>
                </a:solidFill>
                <a:latin typeface="Calibri"/>
              </a:rPr>
              <a:t>Assets in the target project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notebook + job, both available, fresh IDs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7287" y="4901184"/>
            <a:ext cx="2627299" cy="603504"/>
          </a:xfrm>
          <a:prstGeom prst="roundRect">
            <a:avLst>
              <a:gd name="adj" fmla="val 6000"/>
            </a:avLst>
          </a:prstGeom>
          <a:solidFill>
            <a:srgbClr val="F4F4F1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78727" y="4992624"/>
            <a:ext cx="24444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✓  </a:t>
            </a:r>
            <a:r>
              <a:rPr sz="1050" b="1" i="0">
                <a:solidFill>
                  <a:srgbClr val="52514E"/>
                </a:solidFill>
                <a:latin typeface="Calibri"/>
              </a:rPr>
              <a:t>Relationship graph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job asset_ref → the new notebook ID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97467" y="4901184"/>
            <a:ext cx="2627299" cy="603504"/>
          </a:xfrm>
          <a:prstGeom prst="roundRect">
            <a:avLst>
              <a:gd name="adj" fmla="val 6000"/>
            </a:avLst>
          </a:prstGeom>
          <a:solidFill>
            <a:srgbClr val="F4F4F1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88907" y="4992624"/>
            <a:ext cx="24444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✓  </a:t>
            </a:r>
            <a:r>
              <a:rPr sz="1050" b="1" i="0">
                <a:solidFill>
                  <a:srgbClr val="52514E"/>
                </a:solidFill>
                <a:latin typeface="Calibri"/>
              </a:rPr>
              <a:t>Stock runtime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job env_id → rt241py-&lt;new-project-id&gt;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5596128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 i="0">
                <a:solidFill>
                  <a:srgbClr val="52514E"/>
                </a:solidFill>
                <a:latin typeface="Calibri"/>
              </a:rPr>
              <a:t>Nuance:</a:t>
            </a:r>
            <a:r>
              <a:rPr sz="1150" b="0" i="0">
                <a:solidFill>
                  <a:srgbClr val="52514E"/>
                </a:solidFill>
                <a:latin typeface="Calibri"/>
              </a:rPr>
              <a:t> on import the notebook loses its explicit `runtime.environment`, but the job keeps its runtime binding, remapped to the target project's stock runtime. Reproducibility rides on the </a:t>
            </a:r>
            <a:r>
              <a:rPr sz="1150" b="1" i="0">
                <a:solidFill>
                  <a:srgbClr val="52514E"/>
                </a:solidFill>
                <a:latin typeface="Calibri"/>
              </a:rPr>
              <a:t>job</a:t>
            </a:r>
            <a:r>
              <a:rPr sz="1150" b="0" i="0">
                <a:solidFill>
                  <a:srgbClr val="52514E"/>
                </a:solidFill>
                <a:latin typeface="Calibri"/>
              </a:rPr>
              <a:t>. Custom runtimes: still untested.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A78D6"/>
                </a:solidFill>
                <a:latin typeface="Calibri"/>
              </a:rPr>
              <a:t>SECTION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The data and credential boundary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33856"/>
            <a:ext cx="11057839" cy="0"/>
          </a:xfrm>
          <a:prstGeom prst="line">
            <a:avLst/>
          </a:prstGeom>
          <a:ln w="12700">
            <a:solidFill>
              <a:srgbClr val="C3C2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55664"/>
            <a:ext cx="110578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CP4D artifact-level backup with Kasten · DESIGN.md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389888"/>
            <a:ext cx="5943600" cy="2487168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50800" cy="230428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536192"/>
            <a:ext cx="5650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B0B0B"/>
                </a:solidFill>
                <a:latin typeface="Calibri"/>
              </a:rPr>
              <a:t>What the export bundle contains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568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CA30C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1975104"/>
            <a:ext cx="5285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52514E"/>
                </a:solidFill>
                <a:latin typeface="Calibri"/>
              </a:rPr>
              <a:t>Notebook `.ipynb`</a:t>
            </a:r>
            <a:r>
              <a:rPr sz="1200" b="0" i="0">
                <a:solidFill>
                  <a:srgbClr val="52514E"/>
                </a:solidFill>
                <a:latin typeface="Calibri"/>
              </a:rPr>
              <a:t> — cells + outputs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4140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CA30C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2432304"/>
            <a:ext cx="5285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52514E"/>
                </a:solidFill>
                <a:latin typeface="Calibri"/>
              </a:rPr>
              <a:t>File data asset</a:t>
            </a:r>
            <a:r>
              <a:rPr sz="1200" b="0" i="0">
                <a:solidFill>
                  <a:srgbClr val="52514E"/>
                </a:solidFill>
                <a:latin typeface="Calibri"/>
              </a:rPr>
              <a:t> — </a:t>
            </a:r>
            <a:r>
              <a:rPr sz="1200" b="1" i="0">
                <a:solidFill>
                  <a:srgbClr val="52514E"/>
                </a:solidFill>
                <a:latin typeface="Calibri"/>
              </a:rPr>
              <a:t>bytes included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8712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CA30C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" y="2889504"/>
            <a:ext cx="5285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52514E"/>
                </a:solidFill>
                <a:latin typeface="Calibri"/>
              </a:rPr>
              <a:t>Connection definition</a:t>
            </a:r>
            <a:r>
              <a:rPr sz="1200" b="0" i="0">
                <a:solidFill>
                  <a:srgbClr val="52514E"/>
                </a:solidFill>
                <a:latin typeface="Calibri"/>
              </a:rPr>
              <a:t> — `assets/.METADATA/connection.*.json`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32841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AB219"/>
                </a:solidFill>
                <a:latin typeface="Calibri"/>
              </a:rPr>
              <a:t>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" y="3346704"/>
            <a:ext cx="5285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52514E"/>
                </a:solidFill>
                <a:latin typeface="Calibri"/>
              </a:rPr>
              <a:t>Connected data asset</a:t>
            </a:r>
            <a:r>
              <a:rPr sz="1200" b="0" i="0">
                <a:solidFill>
                  <a:srgbClr val="52514E"/>
                </a:solidFill>
                <a:latin typeface="Calibri"/>
              </a:rPr>
              <a:t> — </a:t>
            </a:r>
            <a:r>
              <a:rPr sz="1200" b="1" i="0">
                <a:solidFill>
                  <a:srgbClr val="52514E"/>
                </a:solidFill>
                <a:latin typeface="Calibri"/>
              </a:rPr>
              <a:t>reference only</a:t>
            </a:r>
            <a:r>
              <a:rPr sz="1200" b="0" i="0">
                <a:solidFill>
                  <a:srgbClr val="52514E"/>
                </a:solidFill>
                <a:latin typeface="Calibri"/>
              </a:rPr>
              <a:t> — `is_remote:true`, `size:0`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94576" y="1389888"/>
            <a:ext cx="4730191" cy="2487168"/>
          </a:xfrm>
          <a:prstGeom prst="roundRect">
            <a:avLst>
              <a:gd name="adj" fmla="val 6000"/>
            </a:avLst>
          </a:prstGeom>
          <a:solidFill>
            <a:srgbClr val="F4F4F1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94576" y="1481328"/>
            <a:ext cx="50800" cy="2304288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1536192"/>
            <a:ext cx="443758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B0B0B"/>
                </a:solidFill>
                <a:latin typeface="Calibri"/>
              </a:rPr>
              <a:t>Outside the bundle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1847088"/>
            <a:ext cx="4437583" cy="1883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The S3 objects.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The rows in a Db2.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The files on an on-prem share.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A connected data asset travels as a pointer — the bytes never leave the datasource.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565392" y="3127248"/>
            <a:ext cx="292608" cy="182880"/>
          </a:xfrm>
          <a:prstGeom prst="rightArrow">
            <a:avLst/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6928" y="4078224"/>
            <a:ext cx="11057839" cy="1024128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4169664"/>
            <a:ext cx="50800" cy="841248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4224528"/>
            <a:ext cx="1076523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D03B3B"/>
                </a:solidFill>
                <a:latin typeface="Calibri"/>
              </a:rPr>
              <a:t>Connection credentials are exported in CLEARTEXT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4535424"/>
            <a:ext cx="1076523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52514E"/>
                </a:solidFill>
                <a:latin typeface="Calibri"/>
              </a:rPr>
              <a:t>Not redacted by default. `--encryption-key` on export encrypts the masked properties; </a:t>
            </a:r>
            <a:r>
              <a:rPr sz="1250" b="1" i="0">
                <a:solidFill>
                  <a:srgbClr val="52514E"/>
                </a:solidFill>
                <a:latin typeface="Calibri"/>
              </a:rPr>
              <a:t>import needs the same key</a:t>
            </a:r>
            <a:r>
              <a:rPr sz="1250" b="0" i="0">
                <a:solidFill>
                  <a:srgbClr val="52514E"/>
                </a:solidFill>
                <a:latin typeface="Calibri"/>
              </a:rPr>
              <a:t>, and losing the key means losing the credentials in the restored connections. The bundle is sensitive either way — lock down the PVCs and the namespace regardless.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230368"/>
            <a:ext cx="11057839" cy="969264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5321808"/>
            <a:ext cx="50800" cy="786384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5376672"/>
            <a:ext cx="1076523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B0B0B"/>
                </a:solidFill>
                <a:latin typeface="Calibri"/>
              </a:rPr>
              <a:t>What cpdctl does not protect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5687568"/>
            <a:ext cx="107652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Export captures the project, not the external data behind a connection — a deliberate boundary, and the same one cpdbr has. Per connection: no action if the datasource is versioned or a system-of-record with its own backups; otherwise a separate, independent protection process.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A78D6"/>
                </a:solidFill>
                <a:latin typeface="Calibri"/>
              </a:rPr>
              <a:t>SECTION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Why “latest cpdctl” is the right version policy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133856"/>
            <a:ext cx="11057839" cy="0"/>
          </a:xfrm>
          <a:prstGeom prst="line">
            <a:avLst/>
          </a:prstGeom>
          <a:ln w="12700">
            <a:solidFill>
              <a:srgbClr val="C3C2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55664"/>
            <a:ext cx="110578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Calibri"/>
              </a:rPr>
              <a:t>CP4D artifact-level backup with Kasten · DESIGN.md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Install the </a:t>
            </a:r>
            <a:r>
              <a:rPr sz="1300" b="1" i="0">
                <a:solidFill>
                  <a:srgbClr val="52514E"/>
                </a:solidFill>
                <a:latin typeface="Calibri"/>
              </a:rPr>
              <a:t>newest stable cpdctl</a:t>
            </a:r>
            <a:r>
              <a:rPr sz="1300" b="0" i="0">
                <a:solidFill>
                  <a:srgbClr val="52514E"/>
                </a:solidFill>
                <a:latin typeface="Calibri"/>
              </a:rPr>
              <a:t>, not one matched to your CP4D release — `cpdctl` versioning (1.x) is decoupled from CP4D versioning (4.x / 5.x).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01952"/>
            <a:ext cx="2286000" cy="155448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048256"/>
            <a:ext cx="1993392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latest stable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cpdctl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1.10.34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944368" y="1993392"/>
            <a:ext cx="457200" cy="146304"/>
          </a:xfrm>
          <a:prstGeom prst="rightArrow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93008" y="1901952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0">
                <a:solidFill>
                  <a:srgbClr val="52514E"/>
                </a:solidFill>
                <a:latin typeface="Calibri"/>
              </a:rPr>
              <a:t>CP4D 5.2.x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88736" y="1956816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CA30C"/>
                </a:solidFill>
                <a:latin typeface="Calibri"/>
              </a:rPr>
              <a:t>✓ works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944368" y="2395728"/>
            <a:ext cx="457200" cy="146304"/>
          </a:xfrm>
          <a:prstGeom prst="rightArrow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93008" y="2304288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0">
                <a:solidFill>
                  <a:srgbClr val="52514E"/>
                </a:solidFill>
                <a:latin typeface="Calibri"/>
              </a:rPr>
              <a:t>CP4D 5.4.x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88736" y="235915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CA30C"/>
                </a:solidFill>
                <a:latin typeface="Calibri"/>
              </a:rPr>
              <a:t>✓ works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944368" y="2798064"/>
            <a:ext cx="457200" cy="146304"/>
          </a:xfrm>
          <a:prstGeom prst="rightArrow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93008" y="2706624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0">
                <a:solidFill>
                  <a:srgbClr val="52514E"/>
                </a:solidFill>
                <a:latin typeface="Calibri"/>
              </a:rPr>
              <a:t>any supported CP4D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2761488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CA30C"/>
                </a:solidFill>
                <a:latin typeface="Calibri"/>
              </a:rPr>
              <a:t>✓ works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944368" y="3200400"/>
            <a:ext cx="457200" cy="146304"/>
          </a:xfrm>
          <a:prstGeom prst="rightArrow">
            <a:avLst/>
          </a:prstGeom>
          <a:solidFill>
            <a:srgbClr val="C3C2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93008" y="3108960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3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0">
                <a:solidFill>
                  <a:srgbClr val="52514E"/>
                </a:solidFill>
                <a:latin typeface="Calibri"/>
              </a:rPr>
              <a:t>long-EOL CP4D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88736" y="3163824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898781"/>
                </a:solidFill>
                <a:latin typeface="Calibri"/>
              </a:rPr>
              <a:t>⚠ may fall off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24928" y="1901952"/>
            <a:ext cx="4199839" cy="155448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24928" y="1993392"/>
            <a:ext cx="50800" cy="1371600"/>
          </a:xfrm>
          <a:prstGeom prst="rect">
            <a:avLst/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62672" y="2048256"/>
            <a:ext cx="390723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B0B0B"/>
                </a:solidFill>
                <a:latin typeface="Calibri"/>
              </a:rPr>
              <a:t>Caveat 1 — “supported” is load-bearing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2" y="2359152"/>
            <a:ext cx="3907231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“Backward compatible with all supported Cloud Pak for Data releases” is scoped to CP4D versions still in IBM support. A long-EOL backend can fall outside 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730752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898781"/>
                </a:solidFill>
                <a:latin typeface="Calibri"/>
              </a:rPr>
              <a:t>CAVEAT 2 — CLIENT↔BACKEND COMPATIBILITY IS NOT BUNDLE↔BUNDLE PORTABILITY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041648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F4F4F1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0">
                <a:solidFill>
                  <a:srgbClr val="52514E"/>
                </a:solidFill>
                <a:latin typeface="Calibri"/>
              </a:rPr>
              <a:t>bundle exported
against CP4D 5.2.2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310128" y="4242816"/>
            <a:ext cx="548640" cy="164592"/>
          </a:xfrm>
          <a:prstGeom prst="rightArrow">
            <a:avLst/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950208" y="4041648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F4F4F1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0">
                <a:solidFill>
                  <a:srgbClr val="52514E"/>
                </a:solidFill>
                <a:latin typeface="Calibri"/>
              </a:rPr>
              <a:t>imported into
CP4D 5.4.0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39128" y="4169664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CA30C"/>
                </a:solidFill>
                <a:latin typeface="Calibri"/>
              </a:rPr>
              <a:t>measured: works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65007" y="3986784"/>
            <a:ext cx="3559760" cy="694944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65007" y="4078224"/>
            <a:ext cx="50800" cy="512064"/>
          </a:xfrm>
          <a:prstGeom prst="rect">
            <a:avLst/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66175" y="4096512"/>
            <a:ext cx="33403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One pair measured after an upgrade. The bundle format is a property of the </a:t>
            </a:r>
            <a:r>
              <a:rPr sz="1200" b="1" i="0">
                <a:solidFill>
                  <a:srgbClr val="52514E"/>
                </a:solidFill>
                <a:latin typeface="Calibri"/>
              </a:rPr>
              <a:t>CP4D backend that produced it</a:t>
            </a:r>
            <a:r>
              <a:rPr sz="1200" b="0" i="0">
                <a:solidFill>
                  <a:srgbClr val="52514E"/>
                </a:solidFill>
                <a:latin typeface="Calibri"/>
              </a:rPr>
              <a:t>, so every other pair still needs its own test.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828032"/>
            <a:ext cx="11057839" cy="713232"/>
          </a:xfrm>
          <a:prstGeom prst="roundRect">
            <a:avLst>
              <a:gd name="adj" fmla="val 6000"/>
            </a:avLst>
          </a:prstGeom>
          <a:solidFill>
            <a:srgbClr val="F4F4F1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946904"/>
            <a:ext cx="1082009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1" i="0">
                <a:solidFill>
                  <a:srgbClr val="52514E"/>
                </a:solidFill>
                <a:latin typeface="Calibri"/>
              </a:rPr>
              <a:t>So:</a:t>
            </a:r>
            <a:r>
              <a:rPr sz="1250" b="0" i="0">
                <a:solidFill>
                  <a:srgbClr val="52514E"/>
                </a:solidFill>
                <a:latin typeface="Calibri"/>
              </a:rPr>
              <a:t> “latest cpdctl handles all CP4D versions” means the CLI can *talk to* them. V1 targets same-version DR (validated 5.2 → 5.2 and 5.4 → 5.4). Any other version pair is a separate validation — it is the version-skew risk listed in §4.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